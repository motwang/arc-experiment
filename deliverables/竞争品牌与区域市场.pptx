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建议讲述时间：15秒</a:t>
            </a:r>
          </a:p>
          <a:p/>
          <a:p>
            <a:r>
              <a:t>接下来看竞争品牌与区域市场。10月13日要决定的，不是崂山要不要全国化。公开战略已经写成主品牌加全国性第二品牌。要决定的是：在存量盘里，和谁抢、在哪抢、先证明什么，才允许把费用铺开。</a:t>
            </a:r>
          </a:p>
          <a:p/>
          <a:p>
            <a:r>
              <a:t>答案先说完。和谁抢：勇闯、燕京清爽抢塔基；U8、老雪、小麦王在6—8元截流；青岛经典不进对手名单。在哪抢：先在山东、河北证明升级后还能从勇闯和U8手里保住桌；再在一座场景同源的南方夜宵城，看外地大众瓶能不能被点第二次。先证明什么：6元以下只守不扩。</a:t>
            </a:r>
          </a:p>
          <a:p/>
          <a:p>
            <a:r>
              <a:t>全国化成立，当且仅当这两个试验同时成立。</a:t>
            </a:r>
          </a:p>
          <a:p/>
          <a:p>
            <a:r>
              <a:t>资料备查（不口述，不显示于页面）</a:t>
            </a:r>
          </a:p>
          <a:p>
            <a:r>
              <a:t>青岛啤酒股份有限公司. 2023/2024/2025年年度报告. 分品牌销量、分部收入.</a:t>
            </a:r>
          </a:p>
          <a:p>
            <a:r>
              <a:t>华润啤酒（控股）有限公司. 2023—2025全年业绩公告.</a:t>
            </a:r>
          </a:p>
          <a:p>
            <a:r>
              <a:t>北京燕京啤酒股份有限公司. 年报及2025业绩快报. U8销量.</a:t>
            </a:r>
          </a:p>
          <a:p>
            <a:r>
              <a:t>广州珠江啤酒股份有限公司. 2024/2025年年度报告. 华南收入占比.</a:t>
            </a:r>
          </a:p>
          <a:p>
            <a:r>
              <a:t>重庆啤酒股份有限公司. 2024/2025年年度报告.</a:t>
            </a:r>
          </a:p>
          <a:p>
            <a:r>
              <a:t>百威亚太. 2024/2025年度报告. 中国区销量.</a:t>
            </a:r>
          </a:p>
          <a:p>
            <a:r>
              <a:t>国家统计局. 规上啤酒产量（各年年报转引）.</a:t>
            </a:r>
          </a:p>
          <a:p>
            <a:r>
              <a:t>河北省轻工业行业协会. 2024年河北啤酒工业经济运行情况.</a:t>
            </a:r>
          </a:p>
          <a:p>
            <a:r>
              <a:t>复盘@YJ 逐字稿. H4价格带、H6竞品.</a:t>
            </a:r>
          </a:p>
          <a:p>
            <a:r>
              <a:t>飞书研讨材料. 核心市场鲁冀、避开青啤腹地、样板先行.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建议讲述时间：45秒</a:t>
            </a:r>
          </a:p>
          <a:p/>
          <a:p>
            <a:r>
              <a:t>规上产量三年都在3,500万千升上下。同一窗口，青岛品牌2025年回正3.54%，其他品牌345到320再到315万千升，仍在降。燕京U8两年都是三十来个点。</a:t>
            </a:r>
          </a:p>
          <a:p/>
          <a:p>
            <a:r>
              <a:t>这意味着两件事。第一，用集团加1.5%证明崂山全国化见效，是读错账，那是主品牌回量。第二，全国化的成功标准不能写成进入五强。其他品牌320万千升即便全部当成崂山，也只相当于燕京全公司的八成、华润的三成。</a:t>
            </a:r>
          </a:p>
          <a:p/>
          <a:p>
            <a:r>
              <a:t>所以本组把全国化的时间含义写成止衰：做成独立大众品牌，失量才有机会变成再配置。继续当便宜青岛，费用和货架会被主品牌吸走。</a:t>
            </a:r>
          </a:p>
          <a:p/>
          <a:p>
            <a:r>
              <a:t>资料备查（不口述，不显示于页面）</a:t>
            </a:r>
          </a:p>
          <a:p>
            <a:r>
              <a:t>青岛啤酒股份有限公司. 2023/2024/2025年年度报告. 分品牌销量、分部收入.</a:t>
            </a:r>
          </a:p>
          <a:p>
            <a:r>
              <a:t>华润啤酒（控股）有限公司. 2023—2025全年业绩公告.</a:t>
            </a:r>
          </a:p>
          <a:p>
            <a:r>
              <a:t>北京燕京啤酒股份有限公司. 年报及2025业绩快报. U8销量.</a:t>
            </a:r>
          </a:p>
          <a:p>
            <a:r>
              <a:t>广州珠江啤酒股份有限公司. 2024/2025年年度报告. 华南收入占比.</a:t>
            </a:r>
          </a:p>
          <a:p>
            <a:r>
              <a:t>重庆啤酒股份有限公司. 2024/2025年年度报告.</a:t>
            </a:r>
          </a:p>
          <a:p>
            <a:r>
              <a:t>百威亚太. 2024/2025年度报告. 中国区销量.</a:t>
            </a:r>
          </a:p>
          <a:p>
            <a:r>
              <a:t>国家统计局. 规上啤酒产量（各年年报转引）.</a:t>
            </a:r>
          </a:p>
          <a:p>
            <a:r>
              <a:t>河北省轻工业行业协会. 2024年河北啤酒工业经济运行情况.</a:t>
            </a:r>
          </a:p>
          <a:p>
            <a:r>
              <a:t>复盘@YJ 逐字稿. H4价格带、H6竞品.</a:t>
            </a:r>
          </a:p>
          <a:p>
            <a:r>
              <a:t>飞书研讨材料. 核心市场鲁冀、避开青啤腹地、样板先行.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建议讲述时间：45秒</a:t>
            </a:r>
          </a:p>
          <a:p/>
          <a:p>
            <a:r>
              <a:t>课题写6元以下，分工材料写8元以下，H4会上仍空着。工作口径先用两层。塔基约6元以下，只守不扩。大众升级约6到8元，是独立品牌还站不站得住的位置。经典桌不进，直接违反飞书：避开青啤腹地。</a:t>
            </a:r>
          </a:p>
          <a:p/>
          <a:p>
            <a:r>
              <a:t>雪花第一，因为它同时守塔基、填升级带、已经打进山东。燕京第二，清爽在下、U8在上，河北会撞车。小麦王是全麦叙事的最近干扰，核价回来之前先当干扰项。珠江只在南方点名。</a:t>
            </a:r>
          </a:p>
          <a:p/>
          <a:p>
            <a:r>
              <a:t>名单一乱，样板城会选错，费用会打到红线上。</a:t>
            </a:r>
          </a:p>
          <a:p/>
          <a:p>
            <a:r>
              <a:t>资料备查（不口述，不显示于页面）</a:t>
            </a:r>
          </a:p>
          <a:p>
            <a:r>
              <a:t>青岛啤酒股份有限公司. 2023/2024/2025年年度报告. 分品牌销量、分部收入.</a:t>
            </a:r>
          </a:p>
          <a:p>
            <a:r>
              <a:t>华润啤酒（控股）有限公司. 2023—2025全年业绩公告.</a:t>
            </a:r>
          </a:p>
          <a:p>
            <a:r>
              <a:t>北京燕京啤酒股份有限公司. 年报及2025业绩快报. U8销量.</a:t>
            </a:r>
          </a:p>
          <a:p>
            <a:r>
              <a:t>广州珠江啤酒股份有限公司. 2024/2025年年度报告. 华南收入占比.</a:t>
            </a:r>
          </a:p>
          <a:p>
            <a:r>
              <a:t>重庆啤酒股份有限公司. 2024/2025年年度报告.</a:t>
            </a:r>
          </a:p>
          <a:p>
            <a:r>
              <a:t>百威亚太. 2024/2025年度报告. 中国区销量.</a:t>
            </a:r>
          </a:p>
          <a:p>
            <a:r>
              <a:t>国家统计局. 规上啤酒产量（各年年报转引）.</a:t>
            </a:r>
          </a:p>
          <a:p>
            <a:r>
              <a:t>河北省轻工业行业协会. 2024年河北啤酒工业经济运行情况.</a:t>
            </a:r>
          </a:p>
          <a:p>
            <a:r>
              <a:t>复盘@YJ 逐字稿. H4价格带、H6竞品.</a:t>
            </a:r>
          </a:p>
          <a:p>
            <a:r>
              <a:t>飞书研讨材料. 核心市场鲁冀、避开青啤腹地、样板先行.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建议讲述时间：50秒</a:t>
            </a:r>
          </a:p>
          <a:p/>
          <a:p>
            <a:r>
              <a:t>华润是销量第一，也是全国铺货最完整的大众体系。崂山出省以后，店主最省事的替换就是雪花——同一条大众预算，不用换经销商习惯。</a:t>
            </a:r>
          </a:p>
          <a:p/>
          <a:p>
            <a:r>
              <a:t>燕京2023到2025年连续正增长。U8从69.60万千升到90万千升。2024年华北仍占燕京收入53.40%，华南只贡献0.28%的增长。不能因为燕京在华南弱，就判断南下容易——那里是珠江的家门口。</a:t>
            </a:r>
          </a:p>
          <a:p/>
          <a:p>
            <a:r>
              <a:t>百威中国区提醒：如果全国化只在餐饮桌上比，就是复制一个正在变难的场景。样板必须同时看餐饮被点、零售还在、即时零售出单。</a:t>
            </a:r>
          </a:p>
          <a:p/>
          <a:p>
            <a:r>
              <a:t>资料备查（不口述，不显示于页面）</a:t>
            </a:r>
          </a:p>
          <a:p>
            <a:r>
              <a:t>青岛啤酒股份有限公司. 2023/2024/2025年年度报告. 分品牌销量、分部收入.</a:t>
            </a:r>
          </a:p>
          <a:p>
            <a:r>
              <a:t>华润啤酒（控股）有限公司. 2023—2025全年业绩公告.</a:t>
            </a:r>
          </a:p>
          <a:p>
            <a:r>
              <a:t>北京燕京啤酒股份有限公司. 年报及2025业绩快报. U8销量.</a:t>
            </a:r>
          </a:p>
          <a:p>
            <a:r>
              <a:t>广州珠江啤酒股份有限公司. 2024/2025年年度报告. 华南收入占比.</a:t>
            </a:r>
          </a:p>
          <a:p>
            <a:r>
              <a:t>重庆啤酒股份有限公司. 2024/2025年年度报告.</a:t>
            </a:r>
          </a:p>
          <a:p>
            <a:r>
              <a:t>百威亚太. 2024/2025年度报告. 中国区销量.</a:t>
            </a:r>
          </a:p>
          <a:p>
            <a:r>
              <a:t>国家统计局. 规上啤酒产量（各年年报转引）.</a:t>
            </a:r>
          </a:p>
          <a:p>
            <a:r>
              <a:t>河北省轻工业行业协会. 2024年河北啤酒工业经济运行情况.</a:t>
            </a:r>
          </a:p>
          <a:p>
            <a:r>
              <a:t>复盘@YJ 逐字稿. H4价格带、H6竞品.</a:t>
            </a:r>
          </a:p>
          <a:p>
            <a:r>
              <a:t>飞书研讨材料. 核心市场鲁冀、避开青啤腹地、样板先行.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建议讲述时间：50秒</a:t>
            </a:r>
          </a:p>
          <a:p/>
          <a:p>
            <a:r>
              <a:t>飞书点名核心市场是山东、河北。山东分部销量约占集团70.6%，华北约26.6%，合计约97%。这只能证明基本盘、工厂和队伍在北方，不能写成中国有97%的青啤消费者在鲁冀。</a:t>
            </a:r>
          </a:p>
          <a:p/>
          <a:p>
            <a:r>
              <a:t>广东2024年规上产量474.72万千升，超过山东463.4万千升。珠江华南收入占95.66%。飞书写填补南方中低端，公开格局是南方中低端不空。空的是「有品质感、不是青岛、还进得了大众预算」。</a:t>
            </a:r>
          </a:p>
          <a:p/>
          <a:p>
            <a:r>
              <a:t>第一笔费用的信息密度在北方更高。南方城是方法成立之后的压力测试，不是方法本身。</a:t>
            </a:r>
          </a:p>
          <a:p/>
          <a:p>
            <a:r>
              <a:t>资料备查（不口述，不显示于页面）</a:t>
            </a:r>
          </a:p>
          <a:p>
            <a:r>
              <a:t>青岛啤酒股份有限公司. 2023/2024/2025年年度报告. 分品牌销量、分部收入.</a:t>
            </a:r>
          </a:p>
          <a:p>
            <a:r>
              <a:t>华润啤酒（控股）有限公司. 2023—2025全年业绩公告.</a:t>
            </a:r>
          </a:p>
          <a:p>
            <a:r>
              <a:t>北京燕京啤酒股份有限公司. 年报及2025业绩快报. U8销量.</a:t>
            </a:r>
          </a:p>
          <a:p>
            <a:r>
              <a:t>广州珠江啤酒股份有限公司. 2024/2025年年度报告. 华南收入占比.</a:t>
            </a:r>
          </a:p>
          <a:p>
            <a:r>
              <a:t>重庆啤酒股份有限公司. 2024/2025年年度报告.</a:t>
            </a:r>
          </a:p>
          <a:p>
            <a:r>
              <a:t>百威亚太. 2024/2025年度报告. 中国区销量.</a:t>
            </a:r>
          </a:p>
          <a:p>
            <a:r>
              <a:t>国家统计局. 规上啤酒产量（各年年报转引）.</a:t>
            </a:r>
          </a:p>
          <a:p>
            <a:r>
              <a:t>河北省轻工业行业协会. 2024年河北啤酒工业经济运行情况.</a:t>
            </a:r>
          </a:p>
          <a:p>
            <a:r>
              <a:t>复盘@YJ 逐字稿. H4价格带、H6竞品.</a:t>
            </a:r>
          </a:p>
          <a:p>
            <a:r>
              <a:t>飞书研讨材料. 核心市场鲁冀、避开青啤腹地、样板先行.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建议讲述时间：40秒</a:t>
            </a:r>
          </a:p>
          <a:p/>
          <a:p>
            <a:r>
              <a:t>A说战场在单品和终端，第二品牌还在失量。B说桌上的替换顺序是固定的。C说北方已经是这个结构，南方多一块珠江墙，并不少一块对手。</a:t>
            </a:r>
          </a:p>
          <a:p/>
          <a:p>
            <a:r>
              <a:t>三句合在一起，只推出一个资源顺序。第一笔费用留在鲁冀，证明升级后还能被点——这是方法。第二笔进一座南方夜宵城——这是复制。两笔都还没打完，第三笔不存在。</a:t>
            </a:r>
          </a:p>
          <a:p/>
          <a:p>
            <a:r>
              <a:t>资料备查（不口述，不显示于页面）</a:t>
            </a:r>
          </a:p>
          <a:p>
            <a:r>
              <a:t>青岛啤酒股份有限公司. 2023/2024/2025年年度报告. 分品牌销量、分部收入.</a:t>
            </a:r>
          </a:p>
          <a:p>
            <a:r>
              <a:t>华润啤酒（控股）有限公司. 2023—2025全年业绩公告.</a:t>
            </a:r>
          </a:p>
          <a:p>
            <a:r>
              <a:t>北京燕京啤酒股份有限公司. 年报及2025业绩快报. U8销量.</a:t>
            </a:r>
          </a:p>
          <a:p>
            <a:r>
              <a:t>广州珠江啤酒股份有限公司. 2024/2025年年度报告. 华南收入占比.</a:t>
            </a:r>
          </a:p>
          <a:p>
            <a:r>
              <a:t>重庆啤酒股份有限公司. 2024/2025年年度报告.</a:t>
            </a:r>
          </a:p>
          <a:p>
            <a:r>
              <a:t>百威亚太. 2024/2025年度报告. 中国区销量.</a:t>
            </a:r>
          </a:p>
          <a:p>
            <a:r>
              <a:t>国家统计局. 规上啤酒产量（各年年报转引）.</a:t>
            </a:r>
          </a:p>
          <a:p>
            <a:r>
              <a:t>河北省轻工业行业协会. 2024年河北啤酒工业经济运行情况.</a:t>
            </a:r>
          </a:p>
          <a:p>
            <a:r>
              <a:t>复盘@YJ 逐字稿. H4价格带、H6竞品.</a:t>
            </a:r>
          </a:p>
          <a:p>
            <a:r>
              <a:t>飞书研讨材料. 核心市场鲁冀、避开青啤腹地、样板先行.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建议讲述时间：50秒</a:t>
            </a:r>
          </a:p>
          <a:p/>
          <a:p>
            <a:r>
              <a:t>带进销总的决策建议只有四条。第一，对手名单按分层锁定，青岛经典从名单删除。第二，资源只开两个试验。第三，阶段成果不认铺货家数和覆盖省数。第四，H4、H6和分省销量作为会后必须关闭的数，关不掉则样板可以改城、不改结构。</a:t>
            </a:r>
          </a:p>
          <a:p/>
          <a:p>
            <a:r>
              <a:t>对崂山的核心建议是：先明确桌上和谁抢，再以两场试验证明持续购买与经营回报，逐步扩大复制。规格、包装、购买理由归产品组。经销毛利和考核边界归渠道组。乌苏、东鹏归案例组。三组的输入会修正价签和城名，不应修正先方法、后复制这条顺序。</a:t>
            </a:r>
          </a:p>
          <a:p/>
          <a:p>
            <a:r>
              <a:t>资料备查（不口述，不显示于页面）</a:t>
            </a:r>
          </a:p>
          <a:p>
            <a:r>
              <a:t>青岛啤酒股份有限公司. 2023/2024/2025年年度报告. 分品牌销量、分部收入.</a:t>
            </a:r>
          </a:p>
          <a:p>
            <a:r>
              <a:t>华润啤酒（控股）有限公司. 2023—2025全年业绩公告.</a:t>
            </a:r>
          </a:p>
          <a:p>
            <a:r>
              <a:t>北京燕京啤酒股份有限公司. 年报及2025业绩快报. U8销量.</a:t>
            </a:r>
          </a:p>
          <a:p>
            <a:r>
              <a:t>广州珠江啤酒股份有限公司. 2024/2025年年度报告. 华南收入占比.</a:t>
            </a:r>
          </a:p>
          <a:p>
            <a:r>
              <a:t>重庆啤酒股份有限公司. 2024/2025年年度报告.</a:t>
            </a:r>
          </a:p>
          <a:p>
            <a:r>
              <a:t>百威亚太. 2024/2025年度报告. 中国区销量.</a:t>
            </a:r>
          </a:p>
          <a:p>
            <a:r>
              <a:t>国家统计局. 规上啤酒产量（各年年报转引）.</a:t>
            </a:r>
          </a:p>
          <a:p>
            <a:r>
              <a:t>河北省轻工业行业协会. 2024年河北啤酒工业经济运行情况.</a:t>
            </a:r>
          </a:p>
          <a:p>
            <a:r>
              <a:t>复盘@YJ 逐字稿. H4价格带、H6竞品.</a:t>
            </a:r>
          </a:p>
          <a:p>
            <a:r>
              <a:t>飞书研讨材料. 核心市场鲁冀、避开青啤腹地、样板先行.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47750" y="1066800"/>
            <a:ext cx="161925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竞争品牌与区域市场</a:t>
            </a:r>
          </a:p>
        </p:txBody>
      </p:sp>
      <p:sp>
        <p:nvSpPr>
          <p:cNvPr id="3" name="Rectangle 2"/>
          <p:cNvSpPr/>
          <p:nvPr/>
        </p:nvSpPr>
        <p:spPr>
          <a:xfrm>
            <a:off x="1047750" y="3114675"/>
            <a:ext cx="1238250" cy="85725"/>
          </a:xfrm>
          <a:prstGeom prst="rect">
            <a:avLst/>
          </a:prstGeom>
          <a:solidFill>
            <a:srgbClr val="173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7750" y="3743325"/>
            <a:ext cx="16287750" cy="1238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75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桌上的对手与可验证的战场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7750" y="5334000"/>
            <a:ext cx="15906750" cy="857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和谁抢、在哪抢、先证明什么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" y="6438900"/>
            <a:ext cx="16097250" cy="762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7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勇闯天涯、燕京U8与清爽、哈尔滨小麦王、珠江啤酒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47750" y="8677275"/>
            <a:ext cx="1619250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47750" y="9058275"/>
            <a:ext cx="16192500" cy="571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研究视角：对手分层　　→　　区域选择　　→　　两场试验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47675"/>
            <a:ext cx="16192500" cy="3429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论点 A  /  战场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90600"/>
            <a:ext cx="16573500" cy="7143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5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青岛品牌已回量，其他品牌仍在掉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809750"/>
            <a:ext cx="1645920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2066925"/>
            <a:ext cx="1645920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2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总体判断：全国化带不来行业增量，只能从正在长的单品手里抢酒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628900"/>
            <a:ext cx="4762500" cy="1428750"/>
          </a:xfrm>
          <a:prstGeom prst="rect">
            <a:avLst/>
          </a:prstGeom>
          <a:solidFill>
            <a:srgbClr val="ED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900" y="2714625"/>
            <a:ext cx="4381500" cy="5905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345 → 315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900" y="3333750"/>
            <a:ext cx="4381500" cy="3429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其他品牌销量（万千升）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" y="3683000"/>
            <a:ext cx="4381500" cy="285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2023—2025，崂山为代表，≠单品牌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13500" y="2628900"/>
            <a:ext cx="4762500" cy="1428750"/>
          </a:xfrm>
          <a:prstGeom prst="rect">
            <a:avLst/>
          </a:prstGeom>
          <a:solidFill>
            <a:srgbClr val="ED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04000" y="2714625"/>
            <a:ext cx="4381500" cy="5905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+3.54%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4000" y="3333750"/>
            <a:ext cx="4381500" cy="3429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青岛品牌 2025 年同比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4000" y="3683000"/>
            <a:ext cx="4381500" cy="285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主品牌回量，不能当成崂山许可证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912600" y="2628900"/>
            <a:ext cx="4762500" cy="1428750"/>
          </a:xfrm>
          <a:prstGeom prst="rect">
            <a:avLst/>
          </a:prstGeom>
          <a:solidFill>
            <a:srgbClr val="ED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103100" y="2714625"/>
            <a:ext cx="4381500" cy="5905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+29.3%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03100" y="3333750"/>
            <a:ext cx="4381500" cy="3429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燕京 U8 2025 年同比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103100" y="3683000"/>
            <a:ext cx="4381500" cy="285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增长在有差异的大众单品上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14400" y="4200525"/>
          <a:ext cx="16459200" cy="3467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2500"/>
                <a:gridCol w="2336800"/>
                <a:gridCol w="2336800"/>
                <a:gridCol w="2336800"/>
                <a:gridCol w="2336800"/>
                <a:gridCol w="2349500"/>
              </a:tblGrid>
              <a:tr h="4953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25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口径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25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2023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25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2024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25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24同比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25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2025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25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25同比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规上产量（万千升）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3,555.5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3,521.3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−0.6%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3,536.0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−1.1%*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华润啤酒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1,115.1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1,087.4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−2.5%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1,103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+1.4%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青岛啤酒集团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800.7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753.8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−5.86%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764.8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+1.5%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　青岛品牌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456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434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−4.84%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449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+3.54%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　其他品牌（崂山为代表）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345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320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−7.20%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315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−1.36%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燕京 / 其中 U8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394 / —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400 / 69.6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+1.6% / +31%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405 / 90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87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+1.2% / +29%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14400" y="8572500"/>
            <a:ext cx="16459200" cy="4572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为什么要紧：读竞争从「哪一瓶在长、哪一瓶在掉」读，不从五强排行读。第二品牌这条线仍在降，全国化首先是止衰。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9080500"/>
            <a:ext cx="16459200" cy="685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口径边界：企业销量÷产量不是官方市占。其他品牌≠崂山单品牌。2025年统计局同比按当年公告，不与2024年当时公布基数连乘。若内部数证明崂山单品牌已转正，止衰叙事改为巩固并外溢。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47675"/>
            <a:ext cx="16192500" cy="3429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论点 B  /  对手分层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90600"/>
            <a:ext cx="16573500" cy="7143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5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桌上的敌人是勇闯、清爽与U8，不是青岛经典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809750"/>
            <a:ext cx="1645920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2066925"/>
            <a:ext cx="1645920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2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总体做法：先分层再点名。缺层就会把勇闯和U8写成同一个敌人，也会把青岛经典误列进来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86050"/>
            <a:ext cx="4762500" cy="571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75" b="0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76600"/>
            <a:ext cx="476250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75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塔基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71900"/>
            <a:ext cx="4762500" cy="381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约6元以下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4241800"/>
            <a:ext cx="447675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14400" y="4419750"/>
            <a:ext cx="4762500" cy="571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勇闯天涯、燕京清爽、地方经济型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48250"/>
            <a:ext cx="4762500" cy="1143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只守不扩。费用最烈，盘在缩，和勇闯对砸胜率最低。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286500"/>
            <a:ext cx="4762500" cy="857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不成立时：再便宜一档换量，费用被雪花吃掉。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3500" y="2686050"/>
            <a:ext cx="4762500" cy="571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75" b="0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500" y="3276600"/>
            <a:ext cx="476250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75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大众升级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3500" y="3771900"/>
            <a:ext cx="4762500" cy="381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约6—8元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13500" y="4241800"/>
            <a:ext cx="447675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13500" y="4419750"/>
            <a:ext cx="4762500" cy="571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U8、老雪、哈尔滨小麦王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3500" y="5048250"/>
            <a:ext cx="4762500" cy="1143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独立品牌主战场。全麦必须在这里被点，而不是停在原料词。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3500" y="6286500"/>
            <a:ext cx="4762500" cy="857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不成立时：桌上仍回雪花，瓶子叫不出名。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12600" y="2686050"/>
            <a:ext cx="4762500" cy="571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75" b="0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912600" y="3276600"/>
            <a:ext cx="476250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75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不进入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912600" y="3771900"/>
            <a:ext cx="4762500" cy="381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经典 / 纯生及以上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912600" y="4241800"/>
            <a:ext cx="447675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1912600" y="4419750"/>
            <a:ext cx="4762500" cy="571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青岛主品牌、喜力、百威核心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12600" y="5048250"/>
            <a:ext cx="4762500" cy="1143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红线。做成小青岛，销总现场就可以判失败。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2600" y="6286500"/>
            <a:ext cx="4762500" cy="857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不成立时：内部左右互搏，主品牌吸走资源。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7429500"/>
            <a:ext cx="1645920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14400" y="7610475"/>
            <a:ext cx="1645920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25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假想敌顺序：雪花第一　→　燕京第二　→　小麦王待核价　→　珠江只在南方点名　→　青岛经典永不进入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8180250"/>
            <a:ext cx="16459200" cy="1524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H6名单（勇闯、小麦王、燕京清爽）与飞书「同价位差异化」对得上，缺的是层。价签可以等H4核价改，分层逻辑不改。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名单怎么用：山东对照瓶是勇闯，不是喜力；河北对照瓶是U8和清爽两层；珠江不进鲁冀周会。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47675"/>
            <a:ext cx="16192500" cy="3429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论点 B  /  重点对手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90600"/>
            <a:ext cx="16573500" cy="7143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5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雪花守桌并填升级带，燕京用U8从华北外溢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809750"/>
            <a:ext cx="1645920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2066925"/>
            <a:ext cx="1645920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2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比较具体行动及其结果，锁定鲁冀桌上真正会替换崂山的那几瓶酒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86050"/>
            <a:ext cx="476250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雪花 / 第一假想敌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3219450"/>
            <a:ext cx="447675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3383280"/>
            <a:ext cx="4762500" cy="4476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约20%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11905"/>
            <a:ext cx="4762500" cy="304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访谈口径：华润在鲁份额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54805"/>
            <a:ext cx="4762500" cy="4476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+60%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83430"/>
            <a:ext cx="4762500" cy="304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2025年老雪销量同比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26330"/>
            <a:ext cx="4762500" cy="4476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过半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54955"/>
            <a:ext cx="4762500" cy="304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2024年中档及以上销量占比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715000"/>
            <a:ext cx="4762500" cy="1428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2024年公司公开说要守住经济型、主力市场和大单品。勇闯守桌，老雪和喜力把货架从下往上填。侯孝海提过，山东因勇闯涨价和竞争烈度增加而增速放缓。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4400" y="7210425"/>
            <a:ext cx="447675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14400" y="7366000"/>
            <a:ext cx="4762500" cy="1238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山东样板的第一对手就是勇闯。6元以下对砸，是用短板打长板。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3500" y="2686050"/>
            <a:ext cx="476250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燕京 / 第二假想敌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13500" y="3219450"/>
            <a:ext cx="447675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13500" y="3383280"/>
            <a:ext cx="4762500" cy="4476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+1.2%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3500" y="3811905"/>
            <a:ext cx="4762500" cy="304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2025年公司销量同比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3500" y="4154805"/>
            <a:ext cx="4762500" cy="4476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90万千升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3500" y="4583430"/>
            <a:ext cx="4762500" cy="304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U8 2025年销量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3500" y="4926330"/>
            <a:ext cx="4762500" cy="4476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53.4%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3500" y="5354955"/>
            <a:ext cx="4762500" cy="304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2024年华北收入占比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3500" y="5715000"/>
            <a:ext cx="4762500" cy="1428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燕京没有先变成均匀的全国公司，是用一款单品从华北外溢。清爽继续占塔基，U8截「能喝出一点不一样」的预算。河北是U8近场，也是飞书点名的崂山核心市场。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13500" y="7210425"/>
            <a:ext cx="447675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13500" y="7366000"/>
            <a:ext cx="4762500" cy="1238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鲁冀不能只防勇闯。U8成交有5—6元和8—10元两说，结构比标价重要。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12600" y="2686050"/>
            <a:ext cx="476250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小麦王 / 待核价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1912600" y="3219450"/>
            <a:ext cx="447675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1912600" y="3383280"/>
            <a:ext cx="4762500" cy="4476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H6名单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12600" y="3811905"/>
            <a:ext cx="4762500" cy="304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YJ列入真实竞品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912600" y="4154805"/>
            <a:ext cx="4762500" cy="4476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8—10元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12600" y="4583430"/>
            <a:ext cx="4762500" cy="304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部分哈啤SKU的媒体口径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12600" y="4926330"/>
            <a:ext cx="4762500" cy="4476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−8.6%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912600" y="5354955"/>
            <a:ext cx="4762500" cy="304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百威中国区2025年销量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912600" y="5715000"/>
            <a:ext cx="4762500" cy="1428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小麦王和全麦最近。升级如果只停在原料词，桌上被稀释。百威中国区两年双位数下滑，提醒现饮是原点，也是掉得最快的一层。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1912600" y="7210425"/>
            <a:ext cx="447675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912600" y="7366000"/>
            <a:ext cx="4762500" cy="1238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核价后若小麦王大量落在6—8元，再升格为主对手。铺货家数不构成阶段成果。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8890000"/>
            <a:ext cx="16459200" cy="381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为什么有效：把五强写成竞争对手，周报会变成行业剪报；把青岛经典写成主要敌人，全国化会做成内部左右互搏。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9334500"/>
            <a:ext cx="1645920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成效边界：山东份额为访谈口径，不是官方数。U8成交两说并存，不合成一个价。珠江、嘉士伯不进鲁冀对手名单。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47675"/>
            <a:ext cx="16192500" cy="3429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论点 C  /  区域市场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90600"/>
            <a:ext cx="16573500" cy="7143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5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地理不是往南铺开，而是北方保卫战加一座南方进入战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809750"/>
            <a:ext cx="1645920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2066925"/>
            <a:ext cx="1645920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2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集团账本只能证明队伍在北方。南方不是换标就能接上的市场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0" y="2686050"/>
            <a:ext cx="0" cy="581025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2628900"/>
            <a:ext cx="790575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25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北方保卫战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43250"/>
            <a:ext cx="7905750" cy="381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要回答：全麦在勇闯 / U8 桌上还能否被点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90250"/>
            <a:ext cx="2762250" cy="6477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50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约97%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0" y="3683000"/>
            <a:ext cx="5048250" cy="571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山东+华北分部销量占集团（2024—2025）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是队伍在北方，不是消费地占97%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790575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01  山东是粮仓，也是勇闯已经打进来的主战场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53000"/>
            <a:ext cx="7905750" cy="1143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产量第一已让给广东，消费上仍是青啤体系最厚的省。只守不升，永远是区域品牌；只抽不守，连区域品牌都保不住。方法在这里验证，再带出去。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191250"/>
            <a:ext cx="790575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02  河北是第二核心，也是四强桌、U8近场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667500"/>
            <a:ext cx="7905750" cy="1143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四家合计约占营收一半。飞书把它写成核心市场，公开格局把它写成消耗市场。保不住桌，不必南下验证一条在河北就不成立的产品语言。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7905750"/>
            <a:ext cx="7905750" cy="4000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失败含义：根据地失守，全国化失去方法。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0" y="2628900"/>
            <a:ext cx="781050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25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南方进入战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0" y="3143250"/>
            <a:ext cx="7810500" cy="381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要回答：外地大众瓶能否被点第二次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0" y="3590250"/>
            <a:ext cx="2762250" cy="6477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50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95.66%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46000" y="3683000"/>
            <a:ext cx="4857750" cy="571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珠江华南收入占比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广东产量已超过山东，墙上不空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5000" y="4476750"/>
            <a:ext cx="781050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01  华南是进入战，不是填空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5000" y="4953000"/>
            <a:ext cx="7810500" cy="1143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不与珠江抢「广东人自己的啤酒」，不与喜力抢夜场高档。只试验外地大众瓶能否在中低端餐饮和传统零售站住。样板缩小到一座城，不写成华南大区。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25000" y="6191250"/>
            <a:ext cx="781050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02  五条门槛，缺一条就换城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25000" y="6667500"/>
            <a:ext cx="7810500" cy="11430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现成经销商、场景与北方同源、费用尚未顶格、不抢经典桌、能铺到邻城。先后不是口味问题，是信息价值：鲁冀失败原因可分解，南方先败则墙、场景、价格、队伍缠在一起。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5000" y="7905750"/>
            <a:ext cx="7810500" cy="4000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失败含义：有方法但不可复制，停在区域品牌。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" y="8763000"/>
            <a:ext cx="1645920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14400" y="8943975"/>
            <a:ext cx="16459200" cy="4000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主要判断：两场战争不可互相替代。北方赢了只说明根据地还在；南方赢了只说明有一座城可复制。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9388475"/>
            <a:ext cx="1645920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评价限公开账本。97%是销售组织记账，山东分部可以把销往外省的酒记在自己账上。华东2025年转正，体量仍小，不另开第三条战线。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47675"/>
            <a:ext cx="16192500" cy="3429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比较与收口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90600"/>
            <a:ext cx="16573500" cy="7143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5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战场在单品，名单要分层，地图只开两场试验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809750"/>
            <a:ext cx="1645920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2066925"/>
            <a:ext cx="1645920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2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比较具体行动及其结果，区分可锁住的费用顺序与应避免的扩张写法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628900"/>
          <a:ext cx="16459200" cy="561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4857750"/>
                <a:gridCol w="5143500"/>
                <a:gridCol w="4552950"/>
              </a:tblGrid>
              <a:tr h="5334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判断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公开事实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对崂山的含义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400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应避免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</a:tr>
              <a:tr h="12700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625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战场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2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规上产量三年横盘。青岛品牌回正，其他品牌345→315仍降。U8两年约+30%。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2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全国化首先是止衰。成功标准写成6—8元桌上可识别、不依附青岛的被点理由。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2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用集团+1.5%证明崂山见效；把成功写成进入五强。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</a:tr>
              <a:tr h="12700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625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对手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2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H6点名勇闯、小麦王、清爽。华润守经济型并推老雪。燕京华北收入过半，U8外溢。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2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雪花第一，燕京第二，小麦王待核价，珠江只在南方点名，青岛经典永不进入。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2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把五强都写成对手；把U8写成高端案例而不是截流者。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</a:tr>
              <a:tr h="12700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625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地理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2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鲁冀分部记账约97%。广东产量第一。珠江华南收入95.66%。河北四强桌。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2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先在鲁冀证方法，再在一座南方夜宵城证复制。两场都成立，全国化才成立。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2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用广东产量第一把主战场迁到华南；抽空山东费用支援南下。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</a:tr>
              <a:tr h="12700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625" b="1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成果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2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百威中国区两年现饮下滑。飞书场景钉在火锅烧烤小龙虾。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2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阶段成果只认桌数、补货、库存、扣费后贡献。北方看对照桌是否被挪回，南方看第二次补货。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2025" b="0">
                          <a:solidFill>
                            <a:srgbClr val="173F68"/>
                          </a:solidFill>
                          <a:latin typeface="Heiti SC"/>
                          <a:ea typeface="Heiti SC"/>
                          <a:cs typeface="Heiti SC"/>
                        </a:rPr>
                        <a:t>用铺货家数、覆盖省数、经销商愿意进代替答案。</a:t>
                      </a:r>
                    </a:p>
                  </a:txBody>
                  <a:tcPr marL="171450" marR="171450" marT="76200" marB="76200" anchor="ctr">
                    <a:lnL w="9525" cap="flat" cmpd="sng" algn="ctr">
                      <a:solidFill>
                        <a:srgbClr val="D4E1EE"/>
                      </a:solidFill>
                      <a:prstDash val="solid"/>
                    </a:lnL>
                    <a:lnR w="9525" cap="flat" cmpd="sng" algn="ctr">
                      <a:solidFill>
                        <a:srgbClr val="D4E1EE"/>
                      </a:solidFill>
                      <a:prstDash val="solid"/>
                    </a:lnR>
                    <a:lnT w="9525" cap="flat" cmpd="sng" algn="ctr">
                      <a:solidFill>
                        <a:srgbClr val="D4E1EE"/>
                      </a:solidFill>
                      <a:prstDash val="solid"/>
                    </a:lnT>
                    <a:lnB w="9525" cap="flat" cmpd="sng" algn="ctr">
                      <a:solidFill>
                        <a:srgbClr val="D4E1EE"/>
                      </a:solidFill>
                      <a:prstDash val="solid"/>
                    </a:lnB>
                    <a:solidFill>
                      <a:srgbClr val="EDF3F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333500" y="8477250"/>
            <a:ext cx="4000500" cy="4476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先锁对手名单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8448675"/>
            <a:ext cx="85725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5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2250" y="8477250"/>
            <a:ext cx="4343400" cy="4476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再开两场试验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39500" y="8448675"/>
            <a:ext cx="85725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5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0" y="8477250"/>
            <a:ext cx="4762500" cy="4476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用窄标准判断复制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9048750"/>
            <a:ext cx="16459200" cy="571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现有证据不足以预设省市、预算或销量目标。H4、H6和分省销量会改城名与价签，不改「先方法、后复制」的顺序。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47675"/>
            <a:ext cx="16192500" cy="3429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对10.13的含义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90600"/>
            <a:ext cx="16573500" cy="71437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5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费用只开两个试验，铺货家数不构成阶段成果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1809750"/>
            <a:ext cx="1645920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14400" y="2066925"/>
            <a:ext cx="16459200" cy="4762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2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对应前面的分层与地图，崂山应优先完成三项工作，并用可推翻的数守住口径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1906250" y="2686050"/>
            <a:ext cx="0" cy="581025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914400" y="2571750"/>
            <a:ext cx="857250" cy="685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75" b="0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8350" y="2600325"/>
            <a:ext cx="9239250" cy="42862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75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锁名单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8350" y="3067050"/>
            <a:ext cx="4400550" cy="285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建议动作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4225" y="3067050"/>
            <a:ext cx="4371975" cy="285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观察依据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38350" y="3371850"/>
            <a:ext cx="4762500" cy="1047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对手按分层锁定。青岛经典从名单删除。周报对照瓶：山东看勇闯，河北看U8和清爽，南方城才出现珠江。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4225" y="3371850"/>
            <a:ext cx="4371975" cy="1047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H4成交带、H6建议零售价与常态价。价签可改，分层与红线不改。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38350" y="4476750"/>
            <a:ext cx="946785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14400" y="4667250"/>
            <a:ext cx="857250" cy="685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75" b="0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38350" y="4695825"/>
            <a:ext cx="9239250" cy="42862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75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开两场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38350" y="5162550"/>
            <a:ext cx="4400550" cy="285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建议动作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4225" y="5162550"/>
            <a:ext cx="4371975" cy="285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观察依据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38350" y="5467350"/>
            <a:ext cx="4762500" cy="1047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鲁西或冀中做升级保卫；一座南方夜宵城做进入试验。不做华南大区，不做全国铺开。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4225" y="5467350"/>
            <a:ext cx="4371975" cy="1047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北方：对照桌未等幅上升，崂山桌数或补货上升，库存未恶化。南方：促销减弱后仍有第二次补货。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38350" y="6572250"/>
            <a:ext cx="946785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6762750"/>
            <a:ext cx="857250" cy="685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75" b="0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38350" y="6791325"/>
            <a:ext cx="9239250" cy="42862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75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窄标准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38350" y="7258050"/>
            <a:ext cx="4400550" cy="285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建议动作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4225" y="7258050"/>
            <a:ext cx="4371975" cy="285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观察依据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38350" y="7562850"/>
            <a:ext cx="4762500" cy="1047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阶段成果只认桌数、补货、库存、扣费后贡献。只见开户，判为进入费用，不判可复制。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4225" y="7562850"/>
            <a:ext cx="4371975" cy="10477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90天桌数不动：停复制，回到产品语言，而不是加城。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5375" y="2752725"/>
            <a:ext cx="4848225" cy="51435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会推翻答案的四类数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525375" y="3403600"/>
            <a:ext cx="4848225" cy="3429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成交带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25375" y="3746500"/>
            <a:ext cx="4848225" cy="571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整体高于8元，或真实对手实为经典 → 改分层和红线。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25375" y="4363600"/>
            <a:ext cx="4848225" cy="3429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分省销量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25375" y="4706500"/>
            <a:ext cx="4848225" cy="571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华南已有与鲁冀同量级的桌 → 可增加南方样板。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525375" y="5323600"/>
            <a:ext cx="4848225" cy="3429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小麦王核价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25375" y="5666500"/>
            <a:ext cx="4848225" cy="571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大量落在6—8元且正在切桌 → 升格为主对手。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525375" y="6283600"/>
            <a:ext cx="4848225" cy="3429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25" b="1">
                <a:solidFill>
                  <a:srgbClr val="326EB5"/>
                </a:solidFill>
                <a:latin typeface="Heiti SC"/>
                <a:ea typeface="Heiti SC"/>
                <a:cs typeface="Heiti SC"/>
              </a:rPr>
              <a:t>样板90天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25375" y="6626500"/>
            <a:ext cx="4848225" cy="571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餐饮桌数不增、补货不连续 → 方法不成立，停复制。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2525375" y="8382000"/>
            <a:ext cx="4848225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2525375" y="8522175"/>
            <a:ext cx="4848225" cy="6858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778FA8"/>
                </a:solidFill>
                <a:latin typeface="Heiti SC"/>
                <a:ea typeface="Heiti SC"/>
                <a:cs typeface="Heiti SC"/>
              </a:rPr>
              <a:t>企业数据需求：鲁冀及候选城的桌数、成交价、库存、补货、渠道收益和样板费用。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4400" y="9144000"/>
            <a:ext cx="16459200" cy="0"/>
          </a:xfrm>
          <a:prstGeom prst="line">
            <a:avLst/>
          </a:prstGeom>
          <a:ln w="14288">
            <a:solidFill>
              <a:srgbClr val="D4E1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9334500"/>
            <a:ext cx="16459200" cy="5715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73F68"/>
                </a:solidFill>
                <a:latin typeface="Heiti SC"/>
                <a:ea typeface="Heiti SC"/>
                <a:cs typeface="Heiti SC"/>
              </a:rPr>
              <a:t>复制依据：鲁冀6—8元桌上还守得住，南方有一座城被点第二次。现有公开数据只支持把费用锁在这两个试验上。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